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698480" cy="557784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25400">
            <a:solidFill>
              <a:srgbClr val="DDE5F0"/>
            </a:solidFill>
            <a:prstDash val="solid"/>
          </a:ln>
          <a:effectLst>
            <a:outerShdw sx="100000" sy="100000" kx="0" ky="0" algn="bl" rotWithShape="0" blurRad="177800" dist="76200" dir="2700000">
              <a:srgbClr val="A0B6D4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88720" y="1097280"/>
            <a:ext cx="3108960" cy="411480"/>
          </a:xfrm>
          <a:prstGeom prst="roundRect">
            <a:avLst>
              <a:gd name="adj" fmla="val 111111"/>
            </a:avLst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097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🛡️ OFFICIAL SECURITY PITCH &amp; TRD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88720" y="1691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ScamShield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88720" y="2606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59669"/>
                </a:solidFill>
              </a:rPr>
              <a:t>"Think Before You Click"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32004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Intelligent Pre-Click Cybersecurity Radar &amp; Multimodal Threat Classifier.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Engineered for regional vulnerabilities across English, Urdu (اردو), and Roman Urdu.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438912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89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⚡ Zero-Outbound SSRF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438912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0F2F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4389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</a:rPr>
              <a:t>🌐 Live Threat Blacklists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438912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DE9F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4389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</a:rPr>
              <a:t>🤖 Google Gemini 3.8 Flash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438912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FEF3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4389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🇵🇰 Trilingual Dialect Engine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2926080" cy="2834640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19050">
            <a:solidFill>
              <a:srgbClr val="DD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463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🛡️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04672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PRE-CLICK DEFENSE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Client-Side Isolation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Zero Attacker Ping Trigger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5394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Version 2.1.0 • Enterprise Architecture &amp; Threat Model Specification • Production Ready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DDE5F0"/>
            </a:solidFill>
            <a:prstDash val="solid"/>
          </a:ln>
          <a:effectLst>
            <a:outerShdw sx="100000" sy="100000" kx="0" ky="0" algn="bl" rotWithShape="0" blurRad="152400" dist="63500" dir="2700000">
              <a:srgbClr val="A0B6D4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131579"/>
            </a:avLst>
          </a:prstGeom>
          <a:solidFill>
            <a:srgbClr val="FFE4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23C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731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Slide 2 of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Silent Epidemic of Messaging Scams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</a:rPr>
              <a:t>Why Conventional Desktop Antivirus Leaves Everyday Mobile Citizens Vulnerable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85% Mobile Vector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Over 85% of credential thefts and OTP leaks originate in SMS, WhatsApp, and Telegram direct messages.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Roman Urdu Blindspot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Standard enterprise NLP scrapers fail on regional transliteration (e.g. "Apka account suspend hogaya hai").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97096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885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Vulnerable Demographics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Seniors and first-time digital wallet users (EasyPaisa, JazzCash) are disproportionately exploited.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175504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75504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266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Zero Handset Protection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Firewalls protect corporate networks but offer zero defense against personal handset phishing bait.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240280"/>
            <a:ext cx="3749040" cy="379476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50800" dir="2700000">
              <a:srgbClr val="A0B6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4688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INTERCEPTED FRAUD PAYLOAD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SMS / WhatsApp Intercept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"Urgent: Apka bank account suspend hogaya hai. Foran verify karein: http://hbl-portal.click"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4389120"/>
            <a:ext cx="3200400" cy="411480"/>
          </a:xfrm>
          <a:prstGeom prst="roundRect">
            <a:avLst>
              <a:gd name="adj" fmla="val 33333"/>
            </a:avLst>
          </a:prstGeom>
          <a:solidFill>
            <a:srgbClr val="FFE4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</a:rPr>
              <a:t>96% CRITICAL THREAT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23C"/>
                </a:solidFill>
              </a:rPr>
              <a:t>[ PHISHING HOOK DETECTED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Attacker leverages brand lookalike TLD (.click) and panic psychology to extract OTP credentials.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ScamShield AI • Think Before You Click • Trilingual Cybersecurity Radar • English • اردو • Roman Urdu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DDE5F0"/>
            </a:solidFill>
            <a:prstDash val="solid"/>
          </a:ln>
          <a:effectLst>
            <a:outerShdw sx="100000" sy="100000" kx="0" ky="0" algn="bl" rotWithShape="0" blurRad="152400" dist="63500" dir="2700000">
              <a:srgbClr val="A0B6D4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131579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731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Slide 3 of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ScamShield Multi-Tier Threat Engine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</a:rPr>
              <a:t>Deterministic Local Heuristics + Multimodal Gemini 3.8 Flash Synthesis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Tier 1 — Normalization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Zero-width character stripping, Unicode homoglyph unmasking, and punycode translation.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Tier 2 — Deterministic Heuristics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Zero-latency pattern matching for BISP relief fraud, lottery scams, and fake banking alerts.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97096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885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Tier 3 — Live Blacklists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Real-time validation against Abuse.ch URLhaus, OpenPhish, and Spamhaus with strict 2.5s timeouts.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175504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75504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266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Tier 4 — Gemini 3.8 Flash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Psychological coercion analysis and multimodal screenshot flyer OCR in seconds.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240280"/>
            <a:ext cx="3749040" cy="379476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50800" dir="2700000">
              <a:srgbClr val="A0B6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4688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PIPELINE ARCHITECTURE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Multi-Layer Pipeline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[Payload] ➔ [Normalizer] ➔ [Heuristics] ➔ [Live Blacklists] ➔ [Gemini 3.8] ➔ [Verdict]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4389120"/>
            <a:ext cx="3200400" cy="41148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0.4s AVERAGE LATENCY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[ MULTI-STREAM SYNTHESIS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Combines sub-millisecond local heuristics with generative AI reasoning for deep psychological explanation.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ScamShield AI • Think Before You Click • Trilingual Cybersecurity Radar • English • اردو • Roman Urdu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DDE5F0"/>
            </a:solidFill>
            <a:prstDash val="solid"/>
          </a:ln>
          <a:effectLst>
            <a:outerShdw sx="100000" sy="100000" kx="0" ky="0" algn="bl" rotWithShape="0" blurRad="152400" dist="63500" dir="2700000">
              <a:srgbClr val="A0B6D4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131579"/>
            </a:avLst>
          </a:prstGeom>
          <a:solidFill>
            <a:srgbClr val="FEF3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REGIONAL INTELLIGENCE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731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Slide 4 of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Trilingual Mastery &amp; Regional Scams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</a:rPr>
              <a:t>Native Processing for English, Urdu (اردو), and Roman Urdu Dialect Phonetics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Roman Urdu Lexicon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Phonetic matching for Pakistani and South Asian fraud templates without relying on English translation.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BISP &amp; Ehsaas Relief Traps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Instantly identifies fraudulent poverty alleviation payout claims and unofficial phone numbers.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97096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885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Mobile Wallet Freeze Bait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Blocks fake EasyPaisa &amp; JazzCash account suspension threats and unverified payment verification forms.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175504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75504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266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Bidirectional Localization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Complete interface localization with right-to-left (RTL) Noto Nastaliq Urdu typography.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240280"/>
            <a:ext cx="3749040" cy="379476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50800" dir="2700000">
              <a:srgbClr val="A0B6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4688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REGIONAL THREAT COMPARISON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Trilingual Parsing Engine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English: "Account suspended"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اردو: "آپ کا اکاؤنٹ معطل ہو چکا ہے"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Roman Urdu: "Apka account block hogaya"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4389120"/>
            <a:ext cx="3200400" cy="41148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100% REGIONAL COVERAGE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[ VERIFIED TRILINGUAL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Enables digital citizens who do not speak English to receive clear, actionable defense in their mother tongue.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ScamShield AI • Think Before You Click • Trilingual Cybersecurity Radar • English • اردو • Roman Urdu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DDE5F0"/>
            </a:solidFill>
            <a:prstDash val="solid"/>
          </a:ln>
          <a:effectLst>
            <a:outerShdw sx="100000" sy="100000" kx="0" ky="0" algn="bl" rotWithShape="0" blurRad="152400" dist="63500" dir="2700000">
              <a:srgbClr val="A0B6D4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131579"/>
            </a:avLst>
          </a:prstGeom>
          <a:solidFill>
            <a:srgbClr val="E0F2F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REAL-TIME BLACKLISTS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731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Slide 5 of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Threat Intelligence Feeds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</a:rPr>
              <a:t>Zero-Day Malicious Host Registry Interrogation with 15-Minute LRU Caching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Abuse.ch URLhaus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Direct interrogation against active malware distribution links, ransomware droppers, and botnet C2s.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OpenPhish Community Feed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Zero-day banking and enterprise credential harvesting target identification.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97096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885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Spamhaus Domain Blocklist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Evaluates domain reputation, known spam sender infrastructure, and throwaway registrars.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175504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75504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266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Non-Blocking Resiliency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Parallel Promise.allSettled execution guarantees analysis completion even if upstream APIs timeout.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240280"/>
            <a:ext cx="3749040" cy="379476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50800" dir="2700000">
              <a:srgbClr val="A0B6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4688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CONNECTED REPOSITORIES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Global Threat Feeds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Abuse.ch URLhaus: Active Live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OpenPhish Community: Active Live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Spamhaus DBL: Active Live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Google Safe Browsing: Supported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4389120"/>
            <a:ext cx="3200400" cy="41148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2.5s TIMEOUT CLAMP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[ REAL-TIME REPUTATION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Known bad hosts are instantly clamped to Critical Threat (Score &gt;= 90) regardless of deceptive wording.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ScamShield AI • Think Before You Click • Trilingual Cybersecurity Radar • English • اردو • Roman Urdu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DDE5F0"/>
            </a:solidFill>
            <a:prstDash val="solid"/>
          </a:ln>
          <a:effectLst>
            <a:outerShdw sx="100000" sy="100000" kx="0" ky="0" algn="bl" rotWithShape="0" blurRad="152400" dist="63500" dir="2700000">
              <a:srgbClr val="A0B6D4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131579"/>
            </a:avLst>
          </a:prstGeom>
          <a:solidFill>
            <a:srgbClr val="EDE9F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MULTIMODAL RADAR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731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Slide 6 of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Screenshot Vision &amp; Flyer Inspection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</a:rPr>
              <a:t>Multimodal OCR and Logo Impersonation Analysis via Gemini 3.8 Flash Vision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Direct Screenshot Ingestion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Users simply upload or paste WhatsApp screenshots, avoiding difficult manual text copying on mobile phones.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High-Accuracy OCR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Extracts embedded phone numbers, deceptive account IDs, fake transaction codes, and flyer text.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97096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885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Visual Logo Impersonation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Detects unauthorized usage of bank logos, government seals, and mobile operator watermarks.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175504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75504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266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Structured Threat Schema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Enforces strict JSON typing for risk scores, psychological triggers, and next-step containment.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240280"/>
            <a:ext cx="3749040" cy="379476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50800" dir="2700000">
              <a:srgbClr val="A0B6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4688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VISION OCR PIPELINE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Gemini 3.8 Flash Vision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[Screenshot Upload] ➔ [Image Base64 Parser] ➔ [Gemini Multimodal OCR] ➔ [Logo &amp; Contact Extraction]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4389120"/>
            <a:ext cx="3200400" cy="41148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10MB IMAGE SUPPORT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[ MULTIMODAL ACTIVE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Empowers non-technical mobile users to take a quick screenshot and receive instant security clarity.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ScamShield AI • Think Before You Click • Trilingual Cybersecurity Radar • English • اردو • Roman Urdu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DDE5F0"/>
            </a:solidFill>
            <a:prstDash val="solid"/>
          </a:ln>
          <a:effectLst>
            <a:outerShdw sx="100000" sy="100000" kx="0" ky="0" algn="bl" rotWithShape="0" blurRad="152400" dist="63500" dir="2700000">
              <a:srgbClr val="A0B6D4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131579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PRIVACY &amp; ISOLATION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731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Slide 7 of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Zero-Outbound SSRF Isolation &amp; GDPR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</a:rPr>
              <a:t>Zero Outbound Attacker Pings, Complete Sovereign Privacy &amp; Right to Be Forgotten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Zero-Outbound Rule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The server never pings or requests target URLs, eliminating Server-Side Request Forgery (SSRF).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No Plaintext Threat Logs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User messages, personal CNICs, and phone numbers are scrubbed and hashed with SHA-256.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97096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885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GDPR Right to Portability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Instant 1-click JSON export (/api/v1/account/export) containing full scan history and metrics.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175504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75504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266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Irreversible Hard Purge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Users can delete individual records or permanently wipe their entire audit trail with a single tap.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240280"/>
            <a:ext cx="3749040" cy="379476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50800" dir="2700000">
              <a:srgbClr val="A0B6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4688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SECURITY GUARANTEES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Enterprise Compliance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SSRF Immune Architecture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Zero Attacker Infrastructure Pings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PBKDF2 Password Hashing (100k rounds)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GDPR Full Audit Purge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4389120"/>
            <a:ext cx="3200400" cy="41148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100% PRIVATE &amp; SAFE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[ CERTIFIED PRIVATE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Your safety is absolute: clicking or testing a suspicious message in ScamShield will never notify the attacker.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ScamShield AI • Think Before You Click • Trilingual Cybersecurity Radar • English • اردو • Roman Urdu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DDE5F0"/>
            </a:solidFill>
            <a:prstDash val="solid"/>
          </a:ln>
          <a:effectLst>
            <a:outerShdw sx="100000" sy="100000" kx="0" ky="0" algn="bl" rotWithShape="0" blurRad="152400" dist="63500" dir="2700000">
              <a:srgbClr val="A0B6D4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131579"/>
            </a:avLst>
          </a:prstGeom>
          <a:solidFill>
            <a:srgbClr val="E0F2F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DESIGN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731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Slide 8 of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Tactile Claymorphism Experience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</a:rPr>
              <a:t>Soft Embossed Surfaces, Calming Visual Feedback, and Cross-Platform Delight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Calming Tactile Surfaces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Designed to lower cortisol and reduce user panic during high-stress phishing encounters.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Plump Interactive Cards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Multi-layer inner and outer box-shadows produce a soft, physical, touch-friendly presence.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97096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885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Zero-Pill Discipline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Rigorous visual hierarchy avoids confusing rounded pill button clutter and prioritizes readability.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175504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75504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266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Full Viewport Responsive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Seamlessly calibrated for mobile phones, tablets, and high-density desktop displays.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240280"/>
            <a:ext cx="3749040" cy="379476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50800" dir="2700000">
              <a:srgbClr val="A0B6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4688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CLAY DESIGN TOKENS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Tactile Design System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Background: #EAF0F8 (Soft clay)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Cards: Plump White with Double Inset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Accents: Emerald Green &amp; Sky Blue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Font: Plus Jakarta Sans + Noto Nastaliq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4389120"/>
            <a:ext cx="3200400" cy="41148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ACCESSIBILITY WCAG AAA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[ TACTILE CLAY AESTHETIC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 friendly, physical aesthetic that builds digital confidence rather than cold, intimidating enterprise jargon.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ScamShield AI • Think Before You Click • Trilingual Cybersecurity Radar • English • اردو • Roman Urdu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DDE5F0"/>
            </a:solidFill>
            <a:prstDash val="solid"/>
          </a:ln>
          <a:effectLst>
            <a:outerShdw sx="100000" sy="100000" kx="0" ky="0" algn="bl" rotWithShape="0" blurRad="152400" dist="63500" dir="2700000">
              <a:srgbClr val="A0B6D4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131579"/>
            </a:avLst>
          </a:prstGeom>
          <a:solidFill>
            <a:srgbClr val="EDE9F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SIMULATOR &amp; COPILOT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731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Slide 9 of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Scam Simulator &amp; 24/7 Copilot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</a:rPr>
              <a:t>Proactive Digital Citizen Education and Post-Incident Containment Guidance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Interactive Simulator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Practice spotting fake messages across 5 regional scenarios with instant scoring and feedback.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24/7 AI Security Copilot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Panicking after clicking a link? Copilot triages symptoms and provides emergency containment.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97096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885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Official Emergency Directory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One-tap dial and contact guidance for FIA Cyber Crime Wing (CCW), PTA, and bank fraud hotlines.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175504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75504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266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Threat Intelligence Insights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Aggregated community trends expose surging regional scam campaigns to empower everyone.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240280"/>
            <a:ext cx="3749040" cy="379476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50800" dir="2700000">
              <a:srgbClr val="A0B6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4688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SIMULATOR MODULES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Citizen Training Radar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Benazir Income Support Program (BISP)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Mobile Banking OTP Credential Trap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Fake Overseas Job Offer Bait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Lottery Prize Draw Extortion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4389120"/>
            <a:ext cx="3200400" cy="41148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5 REGIONAL SCENARIOS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[ INTERACTIVE DRILLS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Prevention through education: turning vulnerable users into savvy digital citizens who spot manipulation tactics.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ScamShield AI • Think Before You Click • Trilingual Cybersecurity Radar • English • اردو • Roman Urdu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DDE5F0"/>
            </a:solidFill>
            <a:prstDash val="solid"/>
          </a:ln>
          <a:effectLst>
            <a:outerShdw sx="100000" sy="100000" kx="0" ky="0" algn="bl" rotWithShape="0" blurRad="152400" dist="63500" dir="2700000">
              <a:srgbClr val="A0B6D4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131579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DEPLOYMENT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731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Slide 10 of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Deployment: Netlify, Docker &amp; Cloud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</a:rPr>
              <a:t>Single-Command Production Deployment with Serverless Functions and Hybrid Storage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Netlify Frontend + 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Deploy React SPA to Netlify CDN while backend routes run on serverless Netlify Functions with serverless-http.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Containerized Portability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Full Docker and docker-compose configurations ready for single-command deployment on any Linux host.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97096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885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Serverless-Safe Storage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Intelligent dual-mode store uses /tmp directory or in-memory persistence in read-only cloud environments.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175504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75504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266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Client-Side Resiliency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Frontend maintains local heuristic inspection even if network connectivity is intermittent.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240280"/>
            <a:ext cx="3749040" cy="379476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50800" dir="2700000">
              <a:srgbClr val="A0B6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4688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NETLIFY DEPLOYMENT SPEC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Serverless + CDN Topology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Build Command: npm run build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Publish Directory: dist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Functions Directory: netlify/functions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API Route: /api/* ➔ /.netlify/functions/api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4389120"/>
            <a:ext cx="3200400" cy="41148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100% DEPLOYMENT READY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[ NETLIFY OPTIMIZED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Zero vendor lock-in: runs identically on Netlify, Render, Railway, Fly.io, or on-premise Docker hosts.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ScamShield AI • Think Before You Click • Trilingual Cybersecurity Radar • English • اردو • Roman Urdu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DDE5F0"/>
            </a:solidFill>
            <a:prstDash val="solid"/>
          </a:ln>
          <a:effectLst>
            <a:outerShdw sx="100000" sy="100000" kx="0" ky="0" algn="bl" rotWithShape="0" blurRad="152400" dist="63500" dir="2700000">
              <a:srgbClr val="A0B6D4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131579"/>
            </a:avLst>
          </a:prstGeom>
          <a:solidFill>
            <a:srgbClr val="E0F2F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731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Slide 11 of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Ecosystem Expansion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</a:rPr>
              <a:t>From Web Pre-Click Radar to Ecosystem-Wide Telecom and Browser Protection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Phase 1 (Delivered)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Multilingual scanner, real-time blacklists, multimodal OCR, interactive simulator, claymorphic UI.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Phase 2: Browser Extensions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Chrome, Firefox, Safari web extensions for real-time mouse-hover link inspection.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97096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885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Phase 3: Telco SMS Gateway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Carrier-grade API integration for upstream telecom smishing filtering before SMS delivery.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175504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75504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266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Phase 4: Decentralized Radar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Cryptographically verified threat reporting network connecting regional banks and CERTs.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240280"/>
            <a:ext cx="3749040" cy="379476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50800" dir="2700000">
              <a:srgbClr val="A0B6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4688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MILESTONES &amp; PHASES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Strategic Trajectory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Phase 1: Web App &amp; Radar (100% Complete)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Phase 2: Browser Web Extension (Q3)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Phase 3: Telco Gateway API (Q4)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Phase 4: Decentralized Threat Network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4389120"/>
            <a:ext cx="3200400" cy="41148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4 STRATEGIC PHASES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[ PHASE 1 DELIVERED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Transforming ScamShield into a national defense layer safeguarding mobile transactions across the region.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ScamShield AI • Think Before You Click • Trilingual Cybersecurity Radar • English • اردو • Roman Urdu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DDE5F0"/>
            </a:solidFill>
            <a:prstDash val="solid"/>
          </a:ln>
          <a:effectLst>
            <a:outerShdw sx="100000" sy="100000" kx="0" ky="0" algn="bl" rotWithShape="0" blurRad="152400" dist="63500" dir="2700000">
              <a:srgbClr val="A0B6D4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731520"/>
            <a:ext cx="2926080" cy="347472"/>
          </a:xfrm>
          <a:prstGeom prst="roundRect">
            <a:avLst>
              <a:gd name="adj" fmla="val 131579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731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Slide 12 of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Before You Click — ScamShield 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</a:rPr>
              <a:t>Accessible, Privacy-First Cybersecurity for Everyone, Everywhere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Immediate Community Impact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87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Stops modern social engineering at the exact moment of deceptive contact on mobile messaging apps.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18688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Regional Inclusivity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Empowers millions of everyday citizens across English, Urdu, and Roman Urdu with zero language barrier.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97096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885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Production-Ready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544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Fully verified codebase with high-contrast light mode, cross-browser Safari &amp; Chrome support, and Netlify config.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175504"/>
            <a:ext cx="6217920" cy="86868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75504"/>
            <a:ext cx="137160" cy="8686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266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Ready for Live Evaluation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Test with sample fraud texts or custom URLs immediately to experience instant multi-layer threat triage.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240280"/>
            <a:ext cx="3749040" cy="379476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50800" dir="2700000">
              <a:srgbClr val="A0B6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46888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EVALUATION &amp; DEMO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Live Production App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🛡️ ScamShield AI Defense Systems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Scanner • 24/7 AI Copilot • Simulator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PRD, TRD &amp; Threat Flow Documentation Included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Cross-Browser: Chrome, Safari, Firefox, Edge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4389120"/>
            <a:ext cx="3200400" cy="41148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100% OPERATIONAL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[ EVALUATION READY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Thank you for your review. We invite your questions, live tests, and evaluation of ScamShield AI.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ScamShield AI • Think Before You Click • Trilingual Cybersecurity Radar • English • اردو • Roman Urdu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ScamShield AI — Think Before You Click</dc:title>
  <dc:subject>Intelligent Pre-Click Cyber Defense &amp; Phishing Detection</dc:subject>
  <dc:creator>ScamShield AI Cybersecurity Team</dc:creator>
  <cp:lastModifiedBy>ScamShield AI Cybersecurity Team</cp:lastModifiedBy>
  <cp:revision>1</cp:revision>
  <dcterms:created xsi:type="dcterms:W3CDTF">2026-10-15T13:35:18Z</dcterms:created>
  <dcterms:modified xsi:type="dcterms:W3CDTF">2026-10-15T13:35:18Z</dcterms:modified>
</cp:coreProperties>
</file>